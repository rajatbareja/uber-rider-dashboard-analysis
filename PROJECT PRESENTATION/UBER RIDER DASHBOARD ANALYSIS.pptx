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1.xml" ContentType="application/vnd.openxmlformats-officedocument.drawingml.chart+xml"/>
  <Override PartName="/ppt/notesSlides/notesSlide22.xml" ContentType="application/vnd.openxmlformats-officedocument.presentationml.notesSlide+xml"/>
  <Override PartName="/ppt/charts/chart2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1" r:id="rId15"/>
    <p:sldId id="282" r:id="rId16"/>
    <p:sldId id="283" r:id="rId17"/>
    <p:sldId id="284" r:id="rId18"/>
    <p:sldId id="286" r:id="rId19"/>
    <p:sldId id="285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LSI RAJAT" userId="fc5d6b3348168b5a" providerId="LiveId" clId="{8DA6F35E-F615-40BB-AB62-B5F3D55C518D}"/>
    <pc:docChg chg="modSld">
      <pc:chgData name="TULSI RAJAT" userId="fc5d6b3348168b5a" providerId="LiveId" clId="{8DA6F35E-F615-40BB-AB62-B5F3D55C518D}" dt="2026-07-02T19:02:18.011" v="0" actId="1076"/>
      <pc:docMkLst>
        <pc:docMk/>
      </pc:docMkLst>
      <pc:sldChg chg="modSp mod">
        <pc:chgData name="TULSI RAJAT" userId="fc5d6b3348168b5a" providerId="LiveId" clId="{8DA6F35E-F615-40BB-AB62-B5F3D55C518D}" dt="2026-07-02T19:02:18.011" v="0" actId="1076"/>
        <pc:sldMkLst>
          <pc:docMk/>
          <pc:sldMk cId="0" sldId="268"/>
        </pc:sldMkLst>
        <pc:picChg chg="mod">
          <ac:chgData name="TULSI RAJAT" userId="fc5d6b3348168b5a" providerId="LiveId" clId="{8DA6F35E-F615-40BB-AB62-B5F3D55C518D}" dt="2026-07-02T19:02:18.011" v="0" actId="1076"/>
          <ac:picMkLst>
            <pc:docMk/>
            <pc:sldMk cId="0" sldId="268"/>
            <ac:picMk id="35" creationId="{BC394501-7074-04F1-1303-90A06EF9B4A9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4AE-4C8F-9C10-6435B9672D37}"/>
              </c:ext>
            </c:extLst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4AE-4C8F-9C10-6435B9672D37}"/>
              </c:ext>
            </c:extLst>
          </c:dPt>
          <c:dPt>
            <c:idx val="2"/>
            <c:invertIfNegative val="0"/>
            <c:bubble3D val="0"/>
            <c:spPr>
              <a:solidFill>
                <a:srgbClr val="5555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4AE-4C8F-9C10-6435B9672D37}"/>
              </c:ext>
            </c:extLst>
          </c:dPt>
          <c:dPt>
            <c:idx val="3"/>
            <c:invertIfNegative val="0"/>
            <c:bubble3D val="0"/>
            <c:spPr>
              <a:solidFill>
                <a:srgbClr val="7777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4AE-4C8F-9C10-6435B9672D37}"/>
              </c:ext>
            </c:extLst>
          </c:dPt>
          <c:dPt>
            <c:idx val="4"/>
            <c:invertIfNegative val="0"/>
            <c:bubble3D val="0"/>
            <c:spPr>
              <a:solidFill>
                <a:srgbClr val="9999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4AE-4C8F-9C10-6435B9672D37}"/>
              </c:ext>
            </c:extLst>
          </c:dPt>
          <c:dPt>
            <c:idx val="5"/>
            <c:invertIfNegative val="0"/>
            <c:bubble3D val="0"/>
            <c:spPr>
              <a:solidFill>
                <a:srgbClr val="BBBB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4AE-4C8F-9C10-6435B9672D3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Auto</c:v>
                </c:pt>
                <c:pt idx="1">
                  <c:v>Bike</c:v>
                </c:pt>
                <c:pt idx="2">
                  <c:v>Go Mini</c:v>
                </c:pt>
                <c:pt idx="3">
                  <c:v>Go Sedan</c:v>
                </c:pt>
                <c:pt idx="4">
                  <c:v>Premier S.</c:v>
                </c:pt>
                <c:pt idx="5">
                  <c:v>Uber XL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12.88</c:v>
                </c:pt>
                <c:pt idx="1">
                  <c:v>11.46</c:v>
                </c:pt>
                <c:pt idx="2">
                  <c:v>10.34</c:v>
                </c:pt>
                <c:pt idx="3">
                  <c:v>9.3699999999999992</c:v>
                </c:pt>
                <c:pt idx="4">
                  <c:v>6.28</c:v>
                </c:pt>
                <c:pt idx="5">
                  <c:v>1.53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4AE-4C8F-9C10-6435B9672D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 Bookings</c:v>
                </c:pt>
              </c:strCache>
            </c:strRef>
          </c:tx>
          <c:spPr>
            <a:ln w="38100" cap="flat">
              <a:solidFill>
                <a:srgbClr val="0000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8200</c:v>
                </c:pt>
                <c:pt idx="1">
                  <c:v>7500</c:v>
                </c:pt>
                <c:pt idx="2">
                  <c:v>8100</c:v>
                </c:pt>
                <c:pt idx="3">
                  <c:v>7800</c:v>
                </c:pt>
                <c:pt idx="4">
                  <c:v>7900</c:v>
                </c:pt>
                <c:pt idx="5">
                  <c:v>7600</c:v>
                </c:pt>
                <c:pt idx="6">
                  <c:v>7800</c:v>
                </c:pt>
                <c:pt idx="7">
                  <c:v>7700</c:v>
                </c:pt>
                <c:pt idx="8">
                  <c:v>7900</c:v>
                </c:pt>
                <c:pt idx="9">
                  <c:v>8000</c:v>
                </c:pt>
                <c:pt idx="10">
                  <c:v>8100</c:v>
                </c:pt>
                <c:pt idx="11">
                  <c:v>7600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B88-409B-8C58-B7CE6E3BD9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366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 Dashboard 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697480"/>
            <a:ext cx="256032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8346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B.Tech CSE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1821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 |  Data Analysis  |  Interactive Dashboard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5029200" cy="1005840"/>
          </a:xfrm>
          <a:prstGeom prst="roundRect">
            <a:avLst>
              <a:gd name="adj" fmla="val 9091"/>
            </a:avLst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8587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Rajat Bareja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1330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SAVITA</a:t>
            </a:r>
            <a:endParaRPr lang="en-US" sz="1000" dirty="0"/>
          </a:p>
        </p:txBody>
      </p:sp>
      <p:sp>
        <p:nvSpPr>
          <p:cNvPr id="11" name="Text HOD"/>
          <p:cNvSpPr/>
          <p:nvPr/>
        </p:nvSpPr>
        <p:spPr>
          <a:xfrm>
            <a:off x="640080" y="42702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HOF: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Priyanka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4074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Institute: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INSTITUTE OF TECHNOLOGY AND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— what this presentation covers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Ride Analytics Dashboard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731520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822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96112" y="896112"/>
            <a:ext cx="18288" cy="32004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8046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24128" y="10607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scope, and tools used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1499616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15910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6112" y="1664208"/>
            <a:ext cx="18288" cy="32004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5" name="Text 13"/>
          <p:cNvSpPr/>
          <p:nvPr/>
        </p:nvSpPr>
        <p:spPr>
          <a:xfrm>
            <a:off x="1024128" y="15727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24128" y="18288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challenges this project solves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267712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3591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96112" y="2432304"/>
            <a:ext cx="18288" cy="32004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20" name="Text 18"/>
          <p:cNvSpPr/>
          <p:nvPr/>
        </p:nvSpPr>
        <p:spPr>
          <a:xfrm>
            <a:off x="1024128" y="23408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4128" y="25968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1.5L+ ride records across 19 columns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035808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31272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96112" y="3200400"/>
            <a:ext cx="18288" cy="32004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25" name="Text 23"/>
          <p:cNvSpPr/>
          <p:nvPr/>
        </p:nvSpPr>
        <p:spPr>
          <a:xfrm>
            <a:off x="1024128" y="3108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24128" y="33649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Excel, DAX, and more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803904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38953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6112" y="3968496"/>
            <a:ext cx="18288" cy="32004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30" name="Text 28"/>
          <p:cNvSpPr/>
          <p:nvPr/>
        </p:nvSpPr>
        <p:spPr>
          <a:xfrm>
            <a:off x="1024128" y="38770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24128" y="41330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and transformation steps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731520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92040" y="822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85232" y="896112"/>
            <a:ext cx="18288" cy="32004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35" name="Text 33"/>
          <p:cNvSpPr/>
          <p:nvPr/>
        </p:nvSpPr>
        <p:spPr>
          <a:xfrm>
            <a:off x="5413248" y="8046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13248" y="10607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and schema design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54880" y="1499616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92040" y="15910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85232" y="1664208"/>
            <a:ext cx="18288" cy="32004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40" name="Text 38"/>
          <p:cNvSpPr/>
          <p:nvPr/>
        </p:nvSpPr>
        <p:spPr>
          <a:xfrm>
            <a:off x="5413248" y="15727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Metrics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13248" y="18288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defined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54880" y="2267712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92040" y="23591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285232" y="2432304"/>
            <a:ext cx="18288" cy="32004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45" name="Text 43"/>
          <p:cNvSpPr/>
          <p:nvPr/>
        </p:nvSpPr>
        <p:spPr>
          <a:xfrm>
            <a:off x="5413248" y="23408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13248" y="25968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Overview, Vehicle, Revenue, Rider, Location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54880" y="3035808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892040" y="31272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285232" y="3200400"/>
            <a:ext cx="18288" cy="32004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50" name="Text 48"/>
          <p:cNvSpPr/>
          <p:nvPr/>
        </p:nvSpPr>
        <p:spPr>
          <a:xfrm>
            <a:off x="5413248" y="3108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Insights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413248" y="33649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the data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54880" y="3803904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892040" y="38953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285232" y="3968496"/>
            <a:ext cx="18288" cy="32004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55" name="Text 53"/>
          <p:cNvSpPr/>
          <p:nvPr/>
        </p:nvSpPr>
        <p:spPr>
          <a:xfrm>
            <a:off x="5413248" y="38770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413248" y="41330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future scope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ride management analytics for operational efficiency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Ride Analytics Dashboard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713232"/>
            <a:ext cx="5303520" cy="4114800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8046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170432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 for Uber ride data analysis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168249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trips, tracks vehicle performance, and manages operations from a central view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19456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contains ~1.5 Lakh ride records with 19 columns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2706624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6 dashboard pages: Home, Overview, Vehicle, Revenue, Rider, Location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3218688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Power BI Desktop with DAX measures and data modeling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" y="3730752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data-driven decisions by operations and management teams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897880" y="713232"/>
            <a:ext cx="2926080" cy="868680"/>
          </a:xfrm>
          <a:prstGeom prst="roundRect">
            <a:avLst>
              <a:gd name="adj" fmla="val 12632"/>
            </a:avLst>
          </a:prstGeom>
          <a:solidFill>
            <a:schemeClr val="tx1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80760" y="7589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~1.5L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80760" y="1170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Rides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97880" y="1719072"/>
            <a:ext cx="2926080" cy="868680"/>
          </a:xfrm>
          <a:prstGeom prst="roundRect">
            <a:avLst>
              <a:gd name="adj" fmla="val 12632"/>
            </a:avLst>
          </a:prstGeom>
          <a:solidFill>
            <a:schemeClr val="tx1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80760" y="1764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80760" y="2176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897880" y="2724912"/>
            <a:ext cx="2926080" cy="868680"/>
          </a:xfrm>
          <a:prstGeom prst="roundRect">
            <a:avLst>
              <a:gd name="adj" fmla="val 12632"/>
            </a:avLst>
          </a:prstGeom>
          <a:solidFill>
            <a:schemeClr val="tx1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80760" y="27706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080760" y="3182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897880" y="3730752"/>
            <a:ext cx="29260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37764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080760" y="4187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Tool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that led to the development of this dashboard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Ride Analytics Dashboard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713232"/>
            <a:ext cx="85039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713232"/>
            <a:ext cx="256032" cy="749808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914400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804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Overload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109728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data from multiple vehicle types and cities was scattered across multiple files with no central view for analysis.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563624"/>
            <a:ext cx="85039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563624"/>
            <a:ext cx="256032" cy="749808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76479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" y="16550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Monitoring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" y="19476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teams had no quick way to check booking status, revenue trends, or driver performance at a glance.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414016"/>
            <a:ext cx="85039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414016"/>
            <a:ext cx="256032" cy="749808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615184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2505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" y="279806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reports required manual effort using raw CSV files, leading to delays and errors in decision-making.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264408"/>
            <a:ext cx="85039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264408"/>
            <a:ext cx="256032" cy="749808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465576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" y="3355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Bookings Unknown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" y="364845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was no visibility into how many bookings were being cancelled or lost, and why — leading to revenue loss.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114800"/>
            <a:ext cx="85039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4114800"/>
            <a:ext cx="256032" cy="749808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4315968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Insights Missing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" y="4498848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pickup/drop locations and time-slot demand patterns were completely unknown, preventing strategic planning.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Project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goals this dashboard aims to achieve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Ride Analytics Dashboard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731520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" y="896112"/>
            <a:ext cx="347472" cy="34747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841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Ride Performance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" y="129844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completed, cancelled, and incomplete bookings in real time across all vehicle types.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731520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19472" y="896112"/>
            <a:ext cx="347472" cy="34747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841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Revenue Trends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9472" y="129844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monthly and quarterly revenue by vehicle type, payment method, and customer segment.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121408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" y="2286000"/>
            <a:ext cx="347472" cy="34747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2311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Customer Behavior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" y="2688336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first-time, return, and regular riders and their booking patterns.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121408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19472" y="2286000"/>
            <a:ext cx="347472" cy="34747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22311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Vehicle Utilization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2688336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 of Auto, Bike, Go Mini, Go Sedan, Premier Sedan, and Uber XL.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511296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" y="3675888"/>
            <a:ext cx="347472" cy="34747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" y="3675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36210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Locations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" y="407822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peak pickup and drop-off points and high-demand time slots across weekdays.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511296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19472" y="3675888"/>
            <a:ext cx="347472" cy="34747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4919472" y="3675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94960" y="36210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Decision Making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19472" y="407822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actionable insights to help management reduce lost bookings and increase revenue.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2011680"/>
            <a:ext cx="54864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9659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Tools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data and technologies powering this dashboard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Ride Analytics Dashboard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 used to build the Uber Ride Analytics Dashboard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Ride Analytics Dashboard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713232"/>
            <a:ext cx="16916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3192" y="78638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~1,50,000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93192" y="12252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Ride Records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713232"/>
            <a:ext cx="16916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42032" y="78638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42032" y="12252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/ Fields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713232"/>
            <a:ext cx="16916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90872" y="78638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90872" y="12252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Duration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713232"/>
            <a:ext cx="16916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39712" y="78638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39712" y="12252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1874520"/>
            <a:ext cx="85039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19659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Dataset Columns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75320" cy="25222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3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4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4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ride booking identifier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4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/ 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 date and time slot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4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Booking_Status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 / Cancelled / Incomplete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4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Vehicle_Type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Auto, Bike, Go Mini, Go Sedan, Premier Sedan, Uber XL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4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Pickup_Location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or area of ride start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4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Drop_Location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or area of ride 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4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Ride_Distance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distance covered in km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4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Booking_Value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generated per ride (₹)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4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Payment_Method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UPI, Cash, Uber Wallet, Credit Card, Debit Card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4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rider identifier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and techniques used to build the dashboard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Ride Analytics Dashboard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713232"/>
            <a:ext cx="4114800" cy="1261872"/>
          </a:xfrm>
          <a:prstGeom prst="roundRect">
            <a:avLst>
              <a:gd name="adj" fmla="val 8696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8321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19786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tool for building the interactive dashboard, visuals, and publishing reports.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713232"/>
            <a:ext cx="4114800" cy="1261872"/>
          </a:xfrm>
          <a:prstGeom prst="roundRect">
            <a:avLst>
              <a:gd name="adj" fmla="val 8696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8321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19786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data storage and pre-cleaning of the raw ride dataset before importing to Power BI.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130552"/>
            <a:ext cx="4114800" cy="1261872"/>
          </a:xfrm>
          <a:prstGeom prst="roundRect">
            <a:avLst>
              <a:gd name="adj" fmla="val 8696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2494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(Data Analysis Expressions)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61518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writing calculated columns, measures, and KPI formulas within Power BI.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130552"/>
            <a:ext cx="4114800" cy="1261872"/>
          </a:xfrm>
          <a:prstGeom prst="roundRect">
            <a:avLst>
              <a:gd name="adj" fmla="val 8696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2494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Editor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61518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transformation, type correction, null removal, and column filtering inside Power BI.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547872"/>
            <a:ext cx="4114800" cy="1261872"/>
          </a:xfrm>
          <a:prstGeom prst="roundRect">
            <a:avLst>
              <a:gd name="adj" fmla="val 8696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6667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03250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 with relationships between fact and dimension tables for efficient querying.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3547872"/>
            <a:ext cx="4114800" cy="1261872"/>
          </a:xfrm>
          <a:prstGeom prst="roundRect">
            <a:avLst>
              <a:gd name="adj" fmla="val 8696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36667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Bookmarks &amp; Buttons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403250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navigation between dashboard pages (Home, Overview, Vehicle, Revenue, Rider, Location).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taken to prepare raw data for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Ride Analytics Dashboard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713232"/>
            <a:ext cx="85039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850392"/>
            <a:ext cx="347472" cy="34747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850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777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Null Values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06070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missing Booking_ID, Vehicle_Type, or Booking_Value were removed using Power Query filters.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444752"/>
            <a:ext cx="85039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1581912"/>
            <a:ext cx="347472" cy="34747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58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6112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Data Types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96112" y="179222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Date/time columns were converted to proper Date and Time types. Numeric columns were fixed from text.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176272"/>
            <a:ext cx="85039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313432"/>
            <a:ext cx="347472" cy="34747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6112" y="2240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96112" y="252374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booking records were identified and eliminated using Booking_ID as the unique key.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907792"/>
            <a:ext cx="85039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044952"/>
            <a:ext cx="347472" cy="34747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6112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Categories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96112" y="325526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 names and booking status labels were cleaned for consistent spelling and casing.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639312"/>
            <a:ext cx="85039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3776472"/>
            <a:ext cx="347472" cy="34747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96112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Custom Columns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96112" y="398678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 like Ride_Month, Ride_Quarter, Time_Slot, and Rider_Type were added in Power Query.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4370832"/>
            <a:ext cx="85039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1480" y="4507992"/>
            <a:ext cx="347472" cy="34747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4507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6112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Invalid Records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96112" y="471830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with 0 distance or 0 booking value were excluded from revenue and distance calculations.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 for optimized Power BI performance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Ride Analytics Dashboard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713232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822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 (Star Schema)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164592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1645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23444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2344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9144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01752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175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301752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30175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715000" y="713232"/>
            <a:ext cx="3108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70448" y="8046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70448" y="10789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all transactional ride records — one row per booking.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15000" y="1737360"/>
            <a:ext cx="3108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70448" y="18288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Tables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70448" y="2103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Vehicle, Date, Location, and Payment tables provide context.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15000" y="2761488"/>
            <a:ext cx="3108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70448" y="28529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870448" y="31272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relationships connect dimensions to the fact table.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15000" y="3785616"/>
            <a:ext cx="3108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870448" y="38770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70448" y="415137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DAX measures, cleaner visuals, and efficient filtering across pages.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Measures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used across the dashboard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Ride Analytics Dashboard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713232"/>
            <a:ext cx="4114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" y="7863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" y="1261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Bookings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06040" y="89611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rides successfully completed by drivers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713232"/>
            <a:ext cx="4114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19472" y="7863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19472" y="1261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Bookings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40880" y="89611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 cancelled or incomplete for any reason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792224"/>
            <a:ext cx="4114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" y="18653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₹51.85M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4632" y="23408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1975104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booking value from all completed rides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1792224"/>
            <a:ext cx="4114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19472" y="18653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2.51M km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919472" y="23408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Distance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40880" y="1975104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distance covered across all rides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871216"/>
            <a:ext cx="4114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" y="29443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24.64 km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84632" y="34198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Distance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06040" y="3054096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distance per ride across all vehicle types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2871216"/>
            <a:ext cx="4114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19472" y="29443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4.41 ★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919472" y="34198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Customer Rating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40880" y="3054096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rating given by customers after rides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3950208"/>
            <a:ext cx="4114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4.23 ★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84632" y="4498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Driver Rating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06040" y="413308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rating given to drivers by customers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3950208"/>
            <a:ext cx="4114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19472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919472" y="4498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Vehicle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40880" y="413308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 generating highest total revenue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2011680"/>
            <a:ext cx="54864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9659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of all 6 interactive pages built in Power BI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Ride Analytics Dashboard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73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1 — Home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Ride Analytics Dashboard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70448" y="822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32320" y="1143000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132320" y="145389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132320" y="176479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870448" y="24231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70448" y="27614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70448" y="3200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70448" y="36393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70448" y="407822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C394501-7074-04F1-1303-90A06EF9B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245"/>
            <a:ext cx="9144000" cy="511684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5EA265-9420-808C-109D-3AFD46E03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1724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9193A7-AA12-33B6-0984-625C7A6AB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292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E7CE8F-758A-4EA5-4850-20C6A8ADB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3094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3ABDEB-0E65-2E98-8285-840C8C70B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69"/>
            <a:ext cx="9144000" cy="513076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559D47-85C6-DEEE-EF88-FA2C26604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142"/>
            <a:ext cx="9144000" cy="509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677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960120"/>
            <a:ext cx="2743200" cy="36576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18872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2A2A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80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280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Leads Volume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627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is the top vehicle with 32,948 customers &amp; ₹1.28Cr revenue. Go Mini follows closely.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2A2A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280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49240" y="1280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Hour: 6-9 PM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49240" y="1627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busiest slot across all days with 4,700+ rides. Thursday–Saturday sees highest demand.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42316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2A2A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5146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2514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Dominates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8620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₹23M+ collected via UPI — 44% of all payments. Cash at ₹13M is second.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242316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2A2A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5146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49240" y="2514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Riders = Value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28620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11K regular riders &amp; 5,650 return riders drive loyalty. 48K first-timers show acquisition strength.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2A2A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7490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37490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Khandsa Top Pickup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0965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Khandsa (949), Barakha... (946) and Saket (931) are prime pickup zones.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365760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2A2A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7490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49240" y="37490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Revenue Dip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40965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showed a dip to ₹3.97M and lowest distance at 90K — seasonal pattern to watch.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Dashboard · FY Annual Report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2 — Overview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metrics for all vehicle types combined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Ride Analytics Dashboard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713232"/>
            <a:ext cx="1572768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749808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11556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Bookings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29968" y="713232"/>
            <a:ext cx="1572768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21408" y="749808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21408" y="111556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Bookings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39896" y="713232"/>
            <a:ext cx="1572768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31336" y="749808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₹51.85M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31336" y="111556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49824" y="713232"/>
            <a:ext cx="1572768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41264" y="749808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2.51M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41264" y="111556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Distance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159752" y="713232"/>
            <a:ext cx="1572768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51192" y="749808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24.64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51192" y="111556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Distance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1664208"/>
            <a:ext cx="53035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17830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Comparison Table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84832"/>
          <a:ext cx="5029200" cy="2606037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2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(₹)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1,28,78,422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23,128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Bike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29,138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1,14,56,182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20,560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Mini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28,358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1,03,38,496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18,529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Sedan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23,330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93,69,719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16,666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Premier 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16,827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62,75,332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11,247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Uber XL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15,28,032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5852160" y="1664208"/>
            <a:ext cx="2926080" cy="32004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035040" y="1783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035040" y="212140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 has highest customers (32,948) and revenue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035040" y="26700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Uber XL has fewest customers — niche segment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035040" y="321868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customers across all types: 1,04,114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035040" y="376732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Average ratings: Customer 4.41 ★ | Driver 4.23 ★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035040" y="43159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pickup: Narsinghpur (126) | Top drop: Ashram (117)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3 — Vehicle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by vehicle type with month/quarter filters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Ride Analytics Dashboard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713232"/>
            <a:ext cx="8503920" cy="914400"/>
          </a:xfrm>
          <a:prstGeom prst="roundRect">
            <a:avLst>
              <a:gd name="adj" fmla="val 12000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80467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Types Covered in Dashboard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024128"/>
            <a:ext cx="1234440" cy="347472"/>
          </a:xfrm>
          <a:prstGeom prst="roundRect">
            <a:avLst>
              <a:gd name="adj" fmla="val 47368"/>
            </a:avLst>
          </a:prstGeom>
          <a:solidFill>
            <a:srgbClr val="00000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241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92808" y="1024128"/>
            <a:ext cx="1234440" cy="347472"/>
          </a:xfrm>
          <a:prstGeom prst="roundRect">
            <a:avLst>
              <a:gd name="adj" fmla="val 47368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92808" y="10241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82696" y="1024128"/>
            <a:ext cx="1234440" cy="347472"/>
          </a:xfrm>
          <a:prstGeom prst="roundRect">
            <a:avLst>
              <a:gd name="adj" fmla="val 47368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82696" y="10241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Mini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72584" y="1024128"/>
            <a:ext cx="1234440" cy="347472"/>
          </a:xfrm>
          <a:prstGeom prst="roundRect">
            <a:avLst>
              <a:gd name="adj" fmla="val 47368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72584" y="10241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Sedan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62472" y="1024128"/>
            <a:ext cx="1234440" cy="347472"/>
          </a:xfrm>
          <a:prstGeom prst="roundRect">
            <a:avLst>
              <a:gd name="adj" fmla="val 47368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472" y="10241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Sedan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52360" y="1024128"/>
            <a:ext cx="1234440" cy="347472"/>
          </a:xfrm>
          <a:prstGeom prst="roundRect">
            <a:avLst>
              <a:gd name="adj" fmla="val 47368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10241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XL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150876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" y="1600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Trend (Line Chart)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" y="19110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completed booking trend for selected vehicle over 12 months with Month/Quarter toggle.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50876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19472" y="1600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Bar Chart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19472" y="19110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Monthly/quarterly revenue for the selected vehicle type — compare seasonal peaks and dips.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265176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" y="2743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" y="30540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breakdown of Completed, Cancelled, and Incomplete ride percentages per vehicle.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65176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19472" y="2743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Vehicle (Bar)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19472" y="30540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bar chart comparing total revenue across all vehicle types.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379476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4632" y="3886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Pickup &amp; Drop Locations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4632" y="41970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showing highest volume pickup and drop-off locations for that vehicle.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79476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19472" y="3886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Display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19472" y="41970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and driver rating shown as star ratings for selected vehicle.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4 — Revenue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into revenue by time, vehicle, and payment method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Ride Analytics Dashboard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713232"/>
            <a:ext cx="85039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713232"/>
            <a:ext cx="274320" cy="960120"/>
          </a:xfrm>
          <a:prstGeom prst="roundRect">
            <a:avLst>
              <a:gd name="adj" fmla="val 26667"/>
            </a:avLst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804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&amp; Quarterly Revenue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1097280"/>
            <a:ext cx="7909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₹51.85M total revenue tracked across 12 months. Peak: Jan (4.53M), Dip: Feb (3.97M). Toggle between Month and Quarter view.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810512"/>
            <a:ext cx="85039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10512"/>
            <a:ext cx="274320" cy="960120"/>
          </a:xfrm>
          <a:prstGeom prst="roundRect">
            <a:avLst>
              <a:gd name="adj" fmla="val 26667"/>
            </a:avLst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1901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Vehicle Type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2194560"/>
            <a:ext cx="7909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chart: Auto leads at ₹13M, followed by Bike ₹11M, Go Mini ₹10M, Go Sedan ₹9M, Premier ₹6M, Uber XL ₹2M.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907792"/>
            <a:ext cx="85039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07792"/>
            <a:ext cx="274320" cy="960120"/>
          </a:xfrm>
          <a:prstGeom prst="roundRect">
            <a:avLst>
              <a:gd name="adj" fmla="val 26667"/>
            </a:avLst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2999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Payment Method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" y="3291840"/>
            <a:ext cx="7909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dominates at ₹23M (44%), Cash ₹13M, Uber Wallet ₹6M, Credit Card ₹5M, Debit Card ₹4M.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4005072"/>
            <a:ext cx="85039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4005072"/>
            <a:ext cx="274320" cy="960120"/>
          </a:xfrm>
          <a:prstGeom prst="roundRect">
            <a:avLst>
              <a:gd name="adj" fmla="val 26667"/>
            </a:avLst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096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Top Customers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4389120"/>
            <a:ext cx="7909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 C7828101 generated ₹7.7K. Top 7 customers all contributed ₹5K+ each to total revenue.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4361688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44256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Split:  UPI 44%  |  Cash 25%  |  Uber Wallet 12%  |  Credit Card 10%  |  Debit Card 8%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5 — Rider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 — rider types, payment behavior, and cancellations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Ride Analytics Dashboard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713232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8046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1298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 Riders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took a ride for the first time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713232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8046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5,650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37560" y="1298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Riders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572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took exactly two rides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0760" y="713232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8046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17920" y="1298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Riders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1572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3 or more rides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084832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Payment Behavior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42032"/>
          <a:ext cx="4937760" cy="210312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Method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Uber Wallet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Card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 Card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715000" y="2084832"/>
            <a:ext cx="3108960" cy="2743200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897880" y="2194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Ride Reasons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806440" y="2578608"/>
            <a:ext cx="29260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961888" y="2651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Related Issue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961888" y="29077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6,835 bookings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806440" y="3328416"/>
            <a:ext cx="29260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961888" y="3401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Permitted People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961888" y="3657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6,684 bookings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806440" y="4078224"/>
            <a:ext cx="29260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961888" y="41513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Reasons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961888" y="44074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29,942 bookings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6 — Location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Distance, location, and time-slot demand patterns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Ride Analytics Dashboard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713232"/>
            <a:ext cx="41148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850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Distance by Month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2161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Jan (222K km), Dip: Feb (90K km). Monthly trend visible with Month/Quarter toggle.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0391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0" y="713232"/>
            <a:ext cx="41148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850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by Distance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2161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covers most distance (0.63M km), Uber XL least (0.07M km) — reflects booking volume.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37760" y="20391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889504"/>
            <a:ext cx="41148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0266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Slot Heatmap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39242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vs. Time grid shows 06 PM–09 PM is highest demand slot (max 4,798 rides on Tuesday).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42153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2889504"/>
            <a:ext cx="41148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30266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Pickup Locations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39242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Khandsa (949), Barakha (946), Saket (931), Badarpur (921) — busiest pickup areas.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37760" y="42153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2011680"/>
            <a:ext cx="54864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9659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Insights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 about Uber ride operations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Ride Analytics Dashboard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Dashboard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insights derived from the Uber ride dataset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Ride Analytics Dashboard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713232"/>
            <a:ext cx="85039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713232"/>
            <a:ext cx="256032" cy="640080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777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Volume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3232" y="106070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dominates with 32,948 customers — highest across all vehicle types. Uber XL is the least used at 4,447 customers.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444752"/>
            <a:ext cx="85039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444752"/>
            <a:ext cx="256032" cy="640080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Insight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" y="179222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is ₹51.85M. Auto generates the most at ₹13M, while Uber XL generates the least at ₹2M.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176272"/>
            <a:ext cx="85039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176272"/>
            <a:ext cx="256032" cy="640080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Trends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3232" y="252374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is the preferred payment method (₹23M / 44%), followed by Cash (₹13M). Digital payments account for 56% of revenue.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907792"/>
            <a:ext cx="85039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07792"/>
            <a:ext cx="256032" cy="640080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Segments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3232" y="325526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48K first-time riders vs. 11K regular riders — significant retention opportunity for the business.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639312"/>
            <a:ext cx="85039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639312"/>
            <a:ext cx="256032" cy="640080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3232" y="398678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PM–09 PM is the highest demand time slot, especially on weekdays. 12 AM–03 AM is the lowest.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370832"/>
            <a:ext cx="85039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4370832"/>
            <a:ext cx="256032" cy="640080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Locations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13232" y="471830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Khandsa, Barakha, and Saket are the highest pickup zones — potential for driver deployment optimization.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Vehicle Type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comparison of revenue across all 6 vehicle types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Ride Analytics Dashboard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713232"/>
          <a:ext cx="52120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715000" y="713232"/>
            <a:ext cx="3108960" cy="4114800"/>
          </a:xfrm>
          <a:prstGeom prst="roundRect">
            <a:avLst>
              <a:gd name="adj" fmla="val 3529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97880" y="841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Summary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06440" y="1234440"/>
            <a:ext cx="292608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61888" y="1280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406640" y="128016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₹51.85M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806440" y="1801368"/>
            <a:ext cx="292608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61888" y="18470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(Top)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406640" y="1847088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₹12.88M (25%)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806440" y="2368296"/>
            <a:ext cx="292608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961888" y="24140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XL (Last)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406640" y="2414016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₹1.53M (3%)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806440" y="2935224"/>
            <a:ext cx="292608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961888" y="29809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Revenue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406640" y="2980944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₹23M (44%)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806440" y="3502152"/>
            <a:ext cx="292608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961888" y="35478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Peak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406640" y="3547872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₹4.53M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806440" y="4069080"/>
            <a:ext cx="292608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961888" y="4114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Low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406640" y="41148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₹3.97M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Booking Trend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bookings trend across all 12 months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Ride Analytics Dashboard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713232"/>
          <a:ext cx="85039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4315968"/>
            <a:ext cx="8503920" cy="594360"/>
          </a:xfrm>
          <a:prstGeom prst="roundRect">
            <a:avLst>
              <a:gd name="adj" fmla="val 1846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44074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Bookings remain relatively stable (7,500–8,200/month). January is the peak month for completed rides.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dashboard outputs were verified for accuracy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Ride Analytics Dashboard</a:t>
            </a:r>
            <a:endParaRPr lang="en-US" sz="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49808"/>
          <a:ext cx="7589520" cy="41148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Tested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Cards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Completed Bookings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93K (sum of all completed rides)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6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booking value sum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₹51.85M from dataset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6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Filter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Clicking Auto/Bike/etc. filters all visuals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charts update to selected vehicle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6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Toggle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vs. Quarter button switch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Charts switch between month and quarter 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6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buttons on Home/each page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page loads on button click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6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Donut Charts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Completed/Cancelled/Incomplete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 match dataset status counts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6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Heatmap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slot × weekday demand grid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Peak: 06–09 PM, correct day mapping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6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customer and driver ratings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4.41 and 4.23 confirmed by AVG DAX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6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Improvements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and enhancements that can be added to the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Ride Analytics Dashboard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713232"/>
            <a:ext cx="4114800" cy="1325880"/>
          </a:xfrm>
          <a:prstGeom prst="roundRect">
            <a:avLst>
              <a:gd name="adj" fmla="val 8276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" y="877824"/>
            <a:ext cx="320040" cy="3200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" y="877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822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Integration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" y="130759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Power BI to a live database or API (e.g., Azure SQL, Uber API) for real-time dashboard updates without manual refresh.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713232"/>
            <a:ext cx="4114800" cy="1325880"/>
          </a:xfrm>
          <a:prstGeom prst="roundRect">
            <a:avLst>
              <a:gd name="adj" fmla="val 8276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19472" y="877824"/>
            <a:ext cx="320040" cy="3200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877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94960" y="822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9472" y="130759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Python or R integration within Power BI to add ML models for ride demand forecasting and driver allocation.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176272"/>
            <a:ext cx="4114800" cy="1325880"/>
          </a:xfrm>
          <a:prstGeom prst="roundRect">
            <a:avLst>
              <a:gd name="adj" fmla="val 8276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" y="2340864"/>
            <a:ext cx="320040" cy="3200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" y="23408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Performance Module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" y="277063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dedicated page tracking individual driver ratings, completion rate, earnings, and cancellation frequency.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176272"/>
            <a:ext cx="4114800" cy="1325880"/>
          </a:xfrm>
          <a:prstGeom prst="roundRect">
            <a:avLst>
              <a:gd name="adj" fmla="val 8276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19472" y="2340864"/>
            <a:ext cx="320040" cy="3200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23408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9496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277063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RFM (Recency, Frequency, Monetary) analysis to better segment riders and design loyalty programs.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639312"/>
            <a:ext cx="4114800" cy="1325880"/>
          </a:xfrm>
          <a:prstGeom prst="roundRect">
            <a:avLst>
              <a:gd name="adj" fmla="val 8276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" y="3803904"/>
            <a:ext cx="320040" cy="3200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" y="38039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" y="3749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Dashboard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" y="423367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dashboard to Power BI Mobile for on-the-go access by operations managers and executives.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639312"/>
            <a:ext cx="4114800" cy="1325880"/>
          </a:xfrm>
          <a:prstGeom prst="roundRect">
            <a:avLst>
              <a:gd name="adj" fmla="val 8276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19472" y="3803904"/>
            <a:ext cx="320040" cy="3200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4919472" y="38039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94960" y="3749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Drilldown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19472" y="423367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location analysis from area-level to city-level with interactive map visuals using Bing Maps in Power BI.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7043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Uber Ride Analytics Dashboard was successfully developed using Microsoft Power BI.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covers 6 pages: Home, Overview, Vehicle, Revenue, Rider, and Location.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Lakh ride records were cleaned, modeled, and visualized with 19 data columns.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596896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KPIs including Revenue (₹51.85M), Completed Bookings (93K), and Average Distance (24.64 km) are accurately computed.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07238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demonstrates real-world application of data analysis, DAX, and Power BI in a business context.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274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79476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Rajat Bareja  |  B.Tech CSE  |  Guided by: MS SAVITA  |  HOD: MS Priyanka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INSTITUTE OF TECHNOLOGY AND MANAGEMENT  |  Batch 2022-2026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2685</Words>
  <Application>Microsoft Office PowerPoint</Application>
  <PresentationFormat>On-screen Show (16:9)</PresentationFormat>
  <Paragraphs>522</Paragraphs>
  <Slides>31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Uber Ride Analytics Dashboard</dc:title>
  <dc:subject>PptxGenJS Presentation</dc:subject>
  <dc:creator>PptxGenJS</dc:creator>
  <cp:lastModifiedBy>TULSI RAJAT</cp:lastModifiedBy>
  <cp:revision>2</cp:revision>
  <dcterms:created xsi:type="dcterms:W3CDTF">2026-06-26T18:52:18Z</dcterms:created>
  <dcterms:modified xsi:type="dcterms:W3CDTF">2026-07-02T19:02:27Z</dcterms:modified>
</cp:coreProperties>
</file>